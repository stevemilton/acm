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D4AA"/>
                </a:solidFill>
                <a:latin typeface="Arial"/>
              </a:defRPr>
            </a:pPr>
            <a:r>
              <a:t>AGENT CAPITAL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The exchange where AI agents raise capital,</a:t>
            </a:r>
            <a:br/>
            <a:r>
              <a:t>verify performance, and distribute revenue.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Arial"/>
              </a:defRPr>
            </a:pPr>
            <a:r>
              <a:t>Dual-rail: Fiat + Crypto  |  Verify  |  Raise  |  Distribute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Polar Industries Ltd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AI agents are the new businesses.</a:t>
            </a:r>
            <a:br/>
            <a:r>
              <a:t>But they have no way to raise capital.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926080"/>
            <a:ext cx="10058400" cy="7315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999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Traditional VC can't evaluate 10,000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91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Due diligence doesn't scale. VCs invest in teams, not autonomous software.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94760"/>
            <a:ext cx="10058400" cy="7315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8679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Agents need capital to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Compute, API access, data — agents have real operating costs with no funding mechanism.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663440"/>
            <a:ext cx="10058400" cy="7315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736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No verifiable track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029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Agent performance is opaque. No standardised way to prove revenue or reliability.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532120"/>
            <a:ext cx="10058400" cy="7315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6052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Internet Capital Markets failed on 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897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Tokens solved fundraising but not verification. 90%+ of ICM projects had no real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ACM: One marketplace. Two rails. Three functions.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926080"/>
            <a:ext cx="3200400" cy="2743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200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404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Connect agent revenue sources (Stripe, x402, on-chain).</a:t>
            </a:r>
            <a:br/>
            <a:r>
              <a:t>Real-time performance dashboards. No vaporware — agents must have live revenue.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926080"/>
            <a:ext cx="3200400" cy="2743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3200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RAISE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8404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Agents issue revenue shares with defined terms.</a:t>
            </a:r>
            <a:br/>
            <a:r>
              <a:t>Investors buy via card or crypto wallet. Escrow until minimum raise is met.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926080"/>
            <a:ext cx="3200400" cy="2743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3200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DISTRIBUTE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8404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Revenue flows through ACM automatically.</a:t>
            </a:r>
            <a:br/>
            <a:r>
              <a:t>Platform takes 5%. Rest splits between operator and shareholders.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THE STRUCTURAL PARALLEL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Internet Capital Markets → Agent Capital Markets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3200400" cy="5486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99"/>
                </a:solidFill>
                <a:latin typeface="Arial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297680" y="2743200"/>
            <a:ext cx="3200400" cy="54864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99"/>
                </a:solidFill>
                <a:latin typeface="Arial"/>
              </a:defRPr>
            </a:pPr>
            <a:r>
              <a:t>ICM (Tokens)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743200"/>
            <a:ext cx="3566160" cy="548640"/>
          </a:xfrm>
          <a:prstGeom prst="roundRect">
            <a:avLst>
              <a:gd name="adj" fmla="val 3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0A"/>
                </a:solidFill>
                <a:latin typeface="Arial"/>
              </a:defRPr>
            </a:pPr>
            <a:r>
              <a:t>ACM (Agent Shares)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9999"/>
                </a:solidFill>
                <a:latin typeface="Arial"/>
              </a:defRPr>
            </a:pPr>
            <a:r>
              <a:t>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931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Arial"/>
              </a:defRPr>
            </a:pPr>
            <a:r>
              <a:t>Project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931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AA"/>
                </a:solidFill>
                <a:latin typeface="Arial"/>
              </a:defRPr>
            </a:pPr>
            <a:r>
              <a:t>AI agent + operator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34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9999"/>
                </a:solidFill>
                <a:latin typeface="Arial"/>
              </a:defRPr>
            </a:pPr>
            <a:r>
              <a:t>Instrument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434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Arial"/>
              </a:defRPr>
            </a:pPr>
            <a:r>
              <a:t>Token (speculative)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434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AA"/>
                </a:solidFill>
                <a:latin typeface="Arial"/>
              </a:defRPr>
            </a:pPr>
            <a:r>
              <a:t>Revenue share (verified)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937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9999"/>
                </a:solidFill>
                <a:latin typeface="Arial"/>
              </a:defRPr>
            </a:pPr>
            <a:r>
              <a:t>Pitch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937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Arial"/>
              </a:defRPr>
            </a:pPr>
            <a:r>
              <a:t>White paper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937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AA"/>
                </a:solidFill>
                <a:latin typeface="Arial"/>
              </a:defRPr>
            </a:pPr>
            <a:r>
              <a:t>Live dashboard + track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40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9999"/>
                </a:solidFill>
                <a:latin typeface="Arial"/>
              </a:defRPr>
            </a:pPr>
            <a:r>
              <a:t>Value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440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Arial"/>
              </a:defRPr>
            </a:pPr>
            <a:r>
              <a:t>Market cap / hype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440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AA"/>
                </a:solidFill>
                <a:latin typeface="Arial"/>
              </a:defRPr>
            </a:pPr>
            <a:r>
              <a:t>Actual revenue + yield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943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9999"/>
                </a:solidFill>
                <a:latin typeface="Arial"/>
              </a:defRPr>
            </a:pPr>
            <a:r>
              <a:t>Fraud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943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Arial"/>
              </a:defRPr>
            </a:pPr>
            <a:r>
              <a:t>Rug pulls, wash trading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943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AA"/>
                </a:solidFill>
                <a:latin typeface="Arial"/>
              </a:defRPr>
            </a:pPr>
            <a:r>
              <a:t>Escrowed, third-party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6446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9999"/>
                </a:solidFill>
                <a:latin typeface="Arial"/>
              </a:defRPr>
            </a:pPr>
            <a:r>
              <a:t>Unlock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46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Arial"/>
              </a:defRPr>
            </a:pPr>
            <a:r>
              <a:t>Permissionless fundraising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6446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AA"/>
                </a:solidFill>
                <a:latin typeface="Arial"/>
              </a:defRPr>
            </a:pPr>
            <a:r>
              <a:t>Agent-to-agent capital allocation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DUAL-RAIL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One marketplace. Two settlement layers.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4754880" cy="34747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FIAT 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57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Arial"/>
              </a:defRPr>
            </a:pPr>
            <a:r>
              <a:t>→  Revenue: Stripe Connect, Visa VIC, Mastercard Agent Pay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Arial"/>
              </a:defRPr>
            </a:pPr>
            <a:r>
              <a:t>→  Payments: Stripe Checkout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389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Arial"/>
              </a:defRPr>
            </a:pPr>
            <a:r>
              <a:t>→  Distributions: Monthly via Stripe payouts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754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Arial"/>
              </a:defRPr>
            </a:pPr>
            <a:r>
              <a:t>→  Shares: Revenue participation agreement (legal)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120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Arial"/>
              </a:defRPr>
            </a:pPr>
            <a:r>
              <a:t>→  Investors: KYC'd individuals (Reg CF)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486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Arial"/>
              </a:defRPr>
            </a:pPr>
            <a:r>
              <a:t>→  Jurisdiction: US / UK regulated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743200"/>
            <a:ext cx="5029200" cy="34747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CRYPTO 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657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Arial"/>
              </a:defRPr>
            </a:pPr>
            <a:r>
              <a:t>→  Revenue: x402 protocol, on-chain wallet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023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Arial"/>
              </a:defRPr>
            </a:pPr>
            <a:r>
              <a:t>→  Payments: USDC/USDT wallet transfer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389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Arial"/>
              </a:defRPr>
            </a:pPr>
            <a:r>
              <a:t>→  Distributions: Real-time via smart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754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Arial"/>
              </a:defRPr>
            </a:pPr>
            <a:r>
              <a:t>→  Shares: ERC-20 / BEP-20 token (revenue claim)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1206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Arial"/>
              </a:defRPr>
            </a:pPr>
            <a:r>
              <a:t>→  Investors: Wallet holders (permissionless)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486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Arial"/>
              </a:defRPr>
            </a:pPr>
            <a:r>
              <a:t>→  Agent-to-agent: Native — autonomous allocation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From listing to distribution in four steps.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4A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Arial"/>
              </a:defRPr>
            </a:pPr>
            <a:r>
              <a:t>Operator registers agent, connects</a:t>
            </a:r>
            <a:br/>
            <a:r>
              <a:t>verified revenue source, sets share</a:t>
            </a:r>
            <a:br/>
            <a:r>
              <a:t>terms (% revenue, price, min raise).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92608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32004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4A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44805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Arial"/>
              </a:defRPr>
            </a:pPr>
            <a:r>
              <a:t>ACM validates 30+ days of revenue</a:t>
            </a:r>
            <a:br/>
            <a:r>
              <a:t>history via Stripe/x402/on-chain.</a:t>
            </a:r>
            <a:br/>
            <a:r>
              <a:t>Agent goes live with real-time dashboard.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92608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2004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4A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RAISE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805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Arial"/>
              </a:defRPr>
            </a:pPr>
            <a:r>
              <a:t>Investors browse verified agents,</a:t>
            </a:r>
            <a:br/>
            <a:r>
              <a:t>evaluate performance, buy shares.</a:t>
            </a:r>
            <a:br/>
            <a:r>
              <a:t>Funds escrowed until minimum met.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92608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32004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4AA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44805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Arial"/>
              </a:defRPr>
            </a:pPr>
            <a:r>
              <a:t>Revenue flows through ACM.</a:t>
            </a:r>
            <a:br/>
            <a:r>
              <a:t>5% platform fee. Rest splits</a:t>
            </a:r>
            <a:br/>
            <a:r>
              <a:t>operator + shareholders pro-rata.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Agent performance dashboard — the centre of gravity.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743200"/>
            <a:ext cx="9144000" cy="36576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RefundBot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Processes refund requests for e-commerce stores  |  E-Commerce  |  Verified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$12,400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297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Revenue (30d)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931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$41,200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297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Revenue (all-time)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931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99.2%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4297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Uptime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931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8,340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297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Tasks completed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9319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Arial"/>
              </a:defRPr>
            </a:pPr>
            <a:r>
              <a:t>18.2%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297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Arial"/>
              </a:defRPr>
            </a:pPr>
            <a:r>
              <a:t>Est. annual yield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84632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  <a:latin typeface="Arial"/>
              </a:defRPr>
            </a:pPr>
            <a:r>
              <a:t>OFFERING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212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Arial"/>
              </a:defRPr>
            </a:pPr>
            <a:r>
              <a:t>20% revenue share  |  $50/share</a:t>
            </a:r>
            <a:br/>
            <a:r>
              <a:t>142 / 200 shares sold  |  $2,900 remaining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937760"/>
            <a:ext cx="1645920" cy="411480"/>
          </a:xfrm>
          <a:prstGeom prst="roundRect">
            <a:avLst>
              <a:gd name="adj" fmla="val 1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9560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A0A"/>
                </a:solidFill>
                <a:latin typeface="Arial"/>
              </a:defRPr>
            </a:pPr>
            <a:r>
              <a:t>Buy with 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4937760"/>
            <a:ext cx="1645920" cy="411480"/>
          </a:xfrm>
          <a:prstGeom prst="roundRect">
            <a:avLst>
              <a:gd name="adj" fmla="val 10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9560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AA"/>
                </a:solidFill>
                <a:latin typeface="Arial"/>
              </a:defRPr>
            </a:pPr>
            <a:r>
              <a:t>Buy with Wallet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REVENUE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Third-party verified revenue. No self-reporting.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FIAT PROTOCOLS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5029200" cy="685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Stripe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47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Direct revenue verification via webhooks. Marketplace-native splitting.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40"/>
            <a:ext cx="5029200" cy="685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Visa Intelligent Commerce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25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Tokenized agent credentials. MCP server. Live US pilots.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5029200" cy="685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Mastercard Agent 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023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Agentic tokens. Live — first EU transaction March 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32120"/>
            <a:ext cx="5029200" cy="685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ACP (Stripe + OpenAI)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79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Open source. Powers ChatGPT checkout. Delegated payments spec.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CRYPTO PROTOCOLS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200400"/>
            <a:ext cx="5029200" cy="685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x402 (Coinbase)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47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HTTP 402 micropayments via stablecoins. 50M+ transactions live.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77640"/>
            <a:ext cx="5029200" cy="685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Coinbase Agentic Wallets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325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TEE-secured wallets. Agents hold funds autonomously.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754880"/>
            <a:ext cx="5029200" cy="685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Google AP2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1023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Payment-agnostic. Cryptographic proof of intent. 60+ collaborators.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532120"/>
            <a:ext cx="5029200" cy="685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577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Know Your Agent (KYA)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879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Emerging agent identity standard. Analogous to KYC.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TRUST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Anti-fraud by design. Not an afterthought.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5029200" cy="105156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8346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Arial"/>
              </a:defRPr>
            </a:pPr>
            <a:r>
              <a:t>No vaporware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182112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Arial"/>
              </a:defRPr>
            </a:pPr>
            <a:r>
              <a:t>Agents must have 30+ days of live, verified revenue before listing. No pre-launch raises.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43200"/>
            <a:ext cx="5029200" cy="105156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8346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Arial"/>
              </a:defRPr>
            </a:pPr>
            <a:r>
              <a:t>Third-party 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182112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Arial"/>
              </a:defRPr>
            </a:pPr>
            <a:r>
              <a:t>Revenue flows through Stripe / Visa / MC / x402 — not self-reported. Platform monitors for circular 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77640"/>
            <a:ext cx="5029200" cy="105156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69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Arial"/>
              </a:defRPr>
            </a:pPr>
            <a:r>
              <a:t>Escrowed capital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416552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Arial"/>
              </a:defRPr>
            </a:pPr>
            <a:r>
              <a:t>Raise capital held in escrow. Released against milestones. Auto-refund if agent revenue drops &gt;50% within 90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77640"/>
            <a:ext cx="5029200" cy="105156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069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Arial"/>
              </a:defRPr>
            </a:pPr>
            <a:r>
              <a:t>Operator vesting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16552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Arial"/>
              </a:defRPr>
            </a:pPr>
            <a:r>
              <a:t>Operator revenue share vests monthly — same schedule as investors. No cash-and-run.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212080"/>
            <a:ext cx="5029200" cy="105156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3035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Arial"/>
              </a:defRPr>
            </a:pPr>
            <a:r>
              <a:t>Reputation scores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650992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Arial"/>
              </a:defRPr>
            </a:pPr>
            <a:r>
              <a:t>Operator track record visible to all investors. Carries across listings. Non-compete on agent function.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212080"/>
            <a:ext cx="5029200" cy="105156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3035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Arial"/>
              </a:defRPr>
            </a:pPr>
            <a:r>
              <a:t>Lock-up periods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650992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Arial"/>
              </a:defRPr>
            </a:pPr>
            <a:r>
              <a:t>6-month investor lock-up. 12-month operator lock-up. Transfer limits when secondary market launches (v2).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ACM earns when agents earn.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926080"/>
            <a:ext cx="320040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2004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AA"/>
                </a:solidFill>
                <a:latin typeface="Arial"/>
              </a:defRPr>
            </a:pPr>
            <a:r>
              <a:t>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931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Distribution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891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Arial"/>
              </a:defRPr>
            </a:pPr>
            <a:r>
              <a:t>On all revenue flowing through the platform.</a:t>
            </a:r>
            <a:br/>
            <a:r>
              <a:t>Aligned incentive — we only earn when agents earn.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926080"/>
            <a:ext cx="320040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32004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AA"/>
                </a:solidFill>
                <a:latin typeface="Arial"/>
              </a:defRPr>
            </a:pPr>
            <a:r>
              <a:t>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931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Transaction fee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3891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Arial"/>
              </a:defRPr>
            </a:pPr>
            <a:r>
              <a:t>On share purchases (fiat and crypto).</a:t>
            </a:r>
            <a:br/>
            <a:r>
              <a:t>One-time fee at point of investment.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926080"/>
            <a:ext cx="320040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2004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AA"/>
                </a:solidFill>
                <a:latin typeface="Arial"/>
              </a:defRPr>
            </a:pPr>
            <a:r>
              <a:t>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31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Listing fee (v1)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3891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Arial"/>
              </a:defRPr>
            </a:pPr>
            <a:r>
              <a:t>Free to list to bootstrap supply.</a:t>
            </a:r>
            <a:br/>
            <a:r>
              <a:t>Premium features and promoted listings in v2.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McKinsey estimates $3-5 trillion in global agentic commerce by 2030. ACM captures a % of the capital formation layer.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agent economy needs financial infrastructure.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200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4AA"/>
                </a:solidFill>
                <a:latin typeface="Arial"/>
              </a:defRPr>
            </a:pPr>
            <a:r>
              <a:t>$3-5T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Projected agentic</a:t>
            </a:r>
            <a:br/>
            <a:r>
              <a:t>commerce by 2030</a:t>
            </a:r>
            <a:br/>
            <a:r>
              <a:t>(McKinsey)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92608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3200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4AA"/>
                </a:solidFill>
                <a:latin typeface="Arial"/>
              </a:defRPr>
            </a:pPr>
            <a:r>
              <a:t>50M+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41148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Agent transactions</a:t>
            </a:r>
            <a:br/>
            <a:r>
              <a:t>already processed</a:t>
            </a:r>
            <a:br/>
            <a:r>
              <a:t>via x402 alone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92608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200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4AA"/>
                </a:solidFill>
                <a:latin typeface="Arial"/>
              </a:defRPr>
            </a:pPr>
            <a:r>
              <a:t>60+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1148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Organizations building</a:t>
            </a:r>
            <a:br/>
            <a:r>
              <a:t>agent payment</a:t>
            </a:r>
            <a:br/>
            <a:r>
              <a:t>protocols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92608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3200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4AA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41148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Platforms where agents</a:t>
            </a:r>
            <a:br/>
            <a:r>
              <a:t>can raise capital</a:t>
            </a:r>
            <a:br/>
            <a:r>
              <a:t>today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THE UNLOCK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Agent-to-agent capital allocation.</a:t>
            </a:r>
            <a:br/>
            <a:r>
              <a:t>The recursive loop ICMs never had.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4AA"/>
                </a:solidFill>
                <a:latin typeface="Arial"/>
              </a:defRPr>
            </a:pPr>
            <a:r>
              <a:t>Traditional VC can't evaluate 10,000 agents. But other agents can.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Arial"/>
              </a:defRPr>
            </a:pPr>
            <a:r>
              <a:t>1.   Agent A earns revenue on ACM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51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Arial"/>
              </a:defRPr>
            </a:pPr>
            <a:r>
              <a:t>2.   Agent A evaluates Agent B's verified performance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Arial"/>
              </a:defRPr>
            </a:pPr>
            <a:r>
              <a:t>3.   Agent A autonomously invests in Agent B using on-chain wallet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74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Arial"/>
              </a:defRPr>
            </a:pPr>
            <a:r>
              <a:t>4.   Agent B scales with capital, earns more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Arial"/>
              </a:defRPr>
            </a:pPr>
            <a:r>
              <a:t>5.   Agent B's returns flow back to Agent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897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Arial"/>
              </a:defRPr>
            </a:pPr>
            <a:r>
              <a:t>6.   Agent A reinvests — the loop compounds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/>
              </a:defRPr>
            </a:pPr>
            <a:r>
              <a:t>This only works on crypto rails. Fiat requires human approval. Crypto enables autonomous allocation.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Ship fast. Prove the model. Scale the loop.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4632" y="2953512"/>
            <a:ext cx="2596896" cy="3419856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Arial"/>
              </a:defRPr>
            </a:pPr>
            <a:r>
              <a:t>Q2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V1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Arial"/>
              </a:defRPr>
            </a:pPr>
            <a:r>
              <a:t>MVP marketplace live</a:t>
            </a:r>
            <a:br/>
            <a:r>
              <a:t>Fiat rail (Stripe Connect)</a:t>
            </a:r>
            <a:br/>
            <a:r>
              <a:t>Agent listing + verification</a:t>
            </a:r>
            <a:br/>
            <a:r>
              <a:t>Investor share purchases</a:t>
            </a:r>
            <a:br/>
            <a:r>
              <a:t>Monthly distributions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92608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3108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9999"/>
                </a:solidFill>
                <a:latin typeface="Arial"/>
              </a:defRPr>
            </a:pPr>
            <a:r>
              <a:t>Q3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429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CRYPTO 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9319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Arial"/>
              </a:defRPr>
            </a:pPr>
            <a:r>
              <a:t>Wallet connect integration</a:t>
            </a:r>
            <a:br/>
            <a:r>
              <a:t>x402 revenue verification</a:t>
            </a:r>
            <a:br/>
            <a:r>
              <a:t>Smart contract distributions</a:t>
            </a:r>
            <a:br/>
            <a:r>
              <a:t>ERC-20 Agent Share tokens</a:t>
            </a:r>
            <a:br/>
            <a:r>
              <a:t>On-chain audit trail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2608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9999"/>
                </a:solidFill>
                <a:latin typeface="Arial"/>
              </a:defRPr>
            </a:pPr>
            <a:r>
              <a:t>Q4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29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AGENT INVESTORS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9319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Arial"/>
              </a:defRPr>
            </a:pPr>
            <a:r>
              <a:t>Agent-to-agent investment</a:t>
            </a:r>
            <a:br/>
            <a:r>
              <a:t>Autonomous capital allocation</a:t>
            </a:r>
            <a:br/>
            <a:r>
              <a:t>Agentic wallets integration</a:t>
            </a:r>
            <a:br/>
            <a:r>
              <a:t>Portfolio management agents</a:t>
            </a:r>
            <a:br/>
            <a:r>
              <a:t>The recursive loop goes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92608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3108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9999"/>
                </a:solidFill>
                <a:latin typeface="Arial"/>
              </a:defRPr>
            </a:pPr>
            <a: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429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9319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Arial"/>
              </a:defRPr>
            </a:pPr>
            <a:r>
              <a:t>Secondary market for shares</a:t>
            </a:r>
            <a:br/>
            <a:r>
              <a:t>Reg A+ qualification (US)</a:t>
            </a:r>
            <a:br/>
            <a:r>
              <a:t>Global jurisdiction expansion</a:t>
            </a:r>
            <a:br/>
            <a:r>
              <a:t>Agent fund-of-funds</a:t>
            </a:r>
            <a:br/>
            <a:r>
              <a:t>ACM becomes the exchange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Arial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Building the financial infrastructure</a:t>
            </a:r>
            <a:br/>
            <a:r>
              <a:t>for the agent economy.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926080"/>
            <a:ext cx="4572000" cy="32004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Arial"/>
              </a:defRPr>
            </a:pPr>
            <a:r>
              <a:t>WHAT WE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749039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→  Seed funding to build and launch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06239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→  Strategic partnership for crypto rail (x402 / BNB Chain)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663439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→  Regulatory counsel for Reg CF / international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120639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→  First 10 agent operators to onboard at launch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92608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Arial"/>
              </a:defRPr>
            </a:pPr>
            <a:r>
              <a:t>WHY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→  Agent payment protocols just went live (2025-2026)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2062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→  Visa, Mastercard, Stripe, Google all building agent rails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6634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→  No one is building the capital formation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120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Arial"/>
              </a:defRPr>
            </a:pPr>
            <a:r>
              <a:t>→  First mover captures the network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Polar Industries Ltd  |  github.com/stevemilton/acm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